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9" r:id="rId5"/>
    <p:sldId id="259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0" r:id="rId15"/>
  </p:sldIdLst>
  <p:sldSz cx="18288000" cy="10287000"/>
  <p:notesSz cx="6858000" cy="9144000"/>
  <p:embeddedFontLst>
    <p:embeddedFont>
      <p:font typeface="Montserrat Bold" panose="020B0604020202020204" charset="0"/>
      <p:regular r:id="rId16"/>
    </p:embeddedFont>
    <p:embeddedFont>
      <p:font typeface="Montserrat Medium" panose="00000600000000000000" pitchFamily="2" charset="0"/>
      <p:regular r:id="rId17"/>
    </p:embeddedFont>
    <p:embeddedFont>
      <p:font typeface="Montserrat Semi-Bold" panose="020B0604020202020204" charset="0"/>
      <p:regular r:id="rId18"/>
    </p:embeddedFont>
    <p:embeddedFont>
      <p:font typeface="Montserrat Ultra-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7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7" d="100"/>
          <a:sy n="37" d="100"/>
        </p:scale>
        <p:origin x="98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bin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dania-kabakibi/Capstone_1.git" TargetMode="Externa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950652" y="0"/>
            <a:ext cx="8642148" cy="4305300"/>
            <a:chOff x="0" y="0"/>
            <a:chExt cx="406400" cy="19583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6400" cy="195838"/>
            </a:xfrm>
            <a:custGeom>
              <a:avLst/>
              <a:gdLst/>
              <a:ahLst/>
              <a:cxnLst/>
              <a:rect l="l" t="t" r="r" b="b"/>
              <a:pathLst>
                <a:path w="406400" h="195838">
                  <a:moveTo>
                    <a:pt x="203200" y="0"/>
                  </a:moveTo>
                  <a:lnTo>
                    <a:pt x="406400" y="0"/>
                  </a:lnTo>
                  <a:lnTo>
                    <a:pt x="203200" y="195838"/>
                  </a:lnTo>
                  <a:lnTo>
                    <a:pt x="0" y="195838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0"/>
                  </a:srgbClr>
                </a:gs>
                <a:gs pos="50000">
                  <a:srgbClr val="2376D4">
                    <a:alpha val="100000"/>
                  </a:srgbClr>
                </a:gs>
                <a:gs pos="100000">
                  <a:srgbClr val="2376D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38100"/>
              <a:ext cx="203200" cy="2339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54937" y="5981699"/>
            <a:ext cx="8698663" cy="4305301"/>
            <a:chOff x="0" y="0"/>
            <a:chExt cx="417592" cy="2093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17592" cy="209341"/>
            </a:xfrm>
            <a:custGeom>
              <a:avLst/>
              <a:gdLst/>
              <a:ahLst/>
              <a:cxnLst/>
              <a:rect l="l" t="t" r="r" b="b"/>
              <a:pathLst>
                <a:path w="417592" h="209341">
                  <a:moveTo>
                    <a:pt x="214392" y="0"/>
                  </a:moveTo>
                  <a:lnTo>
                    <a:pt x="0" y="0"/>
                  </a:lnTo>
                  <a:lnTo>
                    <a:pt x="203200" y="209341"/>
                  </a:lnTo>
                  <a:lnTo>
                    <a:pt x="417592" y="209341"/>
                  </a:lnTo>
                  <a:lnTo>
                    <a:pt x="214392" y="0"/>
                  </a:lnTo>
                  <a:close/>
                </a:path>
              </a:pathLst>
            </a:custGeom>
            <a:gradFill rotWithShape="1">
              <a:gsLst>
                <a:gs pos="0">
                  <a:srgbClr val="006CCD">
                    <a:alpha val="0"/>
                  </a:srgbClr>
                </a:gs>
                <a:gs pos="100000">
                  <a:srgbClr val="2376D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600" y="-38100"/>
              <a:ext cx="214392" cy="2474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010538" y="3848100"/>
            <a:ext cx="8777795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b="1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Business Analysis with SQL and Excel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38748" y="2172017"/>
            <a:ext cx="6223782" cy="12567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824"/>
              </a:lnSpc>
            </a:pPr>
            <a:r>
              <a:rPr lang="en-US" sz="8000" b="1" dirty="0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Capstone 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7429" y="2411873"/>
            <a:ext cx="5201475" cy="41680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93" r="18033"/>
          <a:stretch/>
        </p:blipFill>
        <p:spPr>
          <a:xfrm>
            <a:off x="305621" y="358865"/>
            <a:ext cx="2795301" cy="2415664"/>
          </a:xfrm>
          <a:prstGeom prst="rect">
            <a:avLst/>
          </a:prstGeom>
        </p:spPr>
      </p:pic>
      <p:sp>
        <p:nvSpPr>
          <p:cNvPr id="22" name="TextBox 9"/>
          <p:cNvSpPr txBox="1"/>
          <p:nvPr/>
        </p:nvSpPr>
        <p:spPr>
          <a:xfrm>
            <a:off x="10417750" y="7712488"/>
            <a:ext cx="5241347" cy="738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800" b="1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Dania Kabakibi</a:t>
            </a:r>
          </a:p>
        </p:txBody>
      </p:sp>
      <p:sp>
        <p:nvSpPr>
          <p:cNvPr id="23" name="TextBox 9"/>
          <p:cNvSpPr txBox="1"/>
          <p:nvPr/>
        </p:nvSpPr>
        <p:spPr>
          <a:xfrm>
            <a:off x="11398452" y="8876632"/>
            <a:ext cx="3460548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200" b="1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April 30, 2026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wipe/>
      </p:transition>
    </mc:Choice>
    <mc:Fallback xmlns=""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1"/>
            <a:ext cx="12450356" cy="10287000"/>
            <a:chOff x="0" y="0"/>
            <a:chExt cx="3351573" cy="29446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51573" cy="2944662"/>
            </a:xfrm>
            <a:custGeom>
              <a:avLst/>
              <a:gdLst/>
              <a:ahLst/>
              <a:cxnLst/>
              <a:rect l="l" t="t" r="r" b="b"/>
              <a:pathLst>
                <a:path w="3351573" h="2944662">
                  <a:moveTo>
                    <a:pt x="0" y="0"/>
                  </a:moveTo>
                  <a:lnTo>
                    <a:pt x="3351573" y="0"/>
                  </a:lnTo>
                  <a:lnTo>
                    <a:pt x="3351573" y="2944662"/>
                  </a:lnTo>
                  <a:lnTo>
                    <a:pt x="0" y="2944662"/>
                  </a:lnTo>
                  <a:close/>
                </a:path>
              </a:pathLst>
            </a:custGeom>
            <a:solidFill>
              <a:srgbClr val="006C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351573" cy="29827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43000" y="1186878"/>
            <a:ext cx="6324600" cy="857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23"/>
              </a:lnSpc>
            </a:pPr>
            <a:r>
              <a:rPr lang="en-US" sz="6600" b="1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Introduction</a:t>
            </a:r>
            <a:endParaRPr lang="en-US" sz="7329" b="1" dirty="0">
              <a:solidFill>
                <a:srgbClr val="FFFFFF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10D82374-91D6-F78D-55FC-2C07836B9E5C}"/>
              </a:ext>
            </a:extLst>
          </p:cNvPr>
          <p:cNvSpPr txBox="1">
            <a:spLocks/>
          </p:cNvSpPr>
          <p:nvPr/>
        </p:nvSpPr>
        <p:spPr>
          <a:xfrm>
            <a:off x="1143000" y="2857501"/>
            <a:ext cx="10591800" cy="4953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chemeClr val="bg1"/>
                </a:solidFill>
              </a:rPr>
              <a:t>I was assigned to perform a sales analysis for  </a:t>
            </a:r>
            <a:r>
              <a:rPr lang="en-US" sz="4000" dirty="0" err="1">
                <a:solidFill>
                  <a:schemeClr val="bg1"/>
                </a:solidFill>
              </a:rPr>
              <a:t>EmporiUm</a:t>
            </a:r>
            <a:r>
              <a:rPr lang="en-US" sz="4000" dirty="0">
                <a:solidFill>
                  <a:schemeClr val="bg1"/>
                </a:solidFill>
              </a:rPr>
              <a:t>, a student bookstore chain that also sells tech products, art supplies, and other products in the state of Massachusetts.</a:t>
            </a:r>
          </a:p>
          <a:p>
            <a:pPr marL="0" indent="0">
              <a:buNone/>
            </a:pPr>
            <a:endParaRPr lang="en-US" sz="4000" dirty="0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</a:pPr>
            <a:r>
              <a:rPr lang="en-US" sz="4000" dirty="0">
                <a:solidFill>
                  <a:schemeClr val="bg1"/>
                </a:solidFill>
              </a:rPr>
              <a:t>Michael Jarvis, manager for the Northeast Region, assigned me to analyze the performance of Sales Manager </a:t>
            </a:r>
            <a:r>
              <a:rPr lang="en-US" sz="4000" b="1" dirty="0">
                <a:solidFill>
                  <a:schemeClr val="bg1"/>
                </a:solidFill>
              </a:rPr>
              <a:t>Bo Heap</a:t>
            </a:r>
            <a:r>
              <a:rPr lang="en-US" sz="400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" y="-46751"/>
            <a:ext cx="6858000" cy="1989851"/>
            <a:chOff x="0" y="0"/>
            <a:chExt cx="1319513" cy="47104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19513" cy="471044"/>
            </a:xfrm>
            <a:custGeom>
              <a:avLst/>
              <a:gdLst/>
              <a:ahLst/>
              <a:cxnLst/>
              <a:rect l="l" t="t" r="r" b="b"/>
              <a:pathLst>
                <a:path w="1319513" h="471044">
                  <a:moveTo>
                    <a:pt x="0" y="0"/>
                  </a:moveTo>
                  <a:lnTo>
                    <a:pt x="1319513" y="0"/>
                  </a:lnTo>
                  <a:lnTo>
                    <a:pt x="1319513" y="471044"/>
                  </a:lnTo>
                  <a:lnTo>
                    <a:pt x="0" y="471044"/>
                  </a:lnTo>
                  <a:close/>
                </a:path>
              </a:pathLst>
            </a:custGeom>
            <a:solidFill>
              <a:srgbClr val="006C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19513" cy="509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762000" y="678211"/>
            <a:ext cx="6806117" cy="853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23"/>
              </a:lnSpc>
            </a:pPr>
            <a:r>
              <a:rPr lang="en-US" sz="6000" b="1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Sales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4345" y="2643369"/>
            <a:ext cx="16126756" cy="63401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65138" indent="-465138">
              <a:buFont typeface="+mj-lt"/>
              <a:buAutoNum type="arabicPeriod"/>
            </a:pPr>
            <a:r>
              <a:rPr lang="en-US" sz="2800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  <a:sym typeface="Montserrat Medium"/>
              </a:rPr>
              <a:t>What is total revenue overall for sales in the assigned territory, plus the start date and end date that tell you what period the data covers?</a:t>
            </a:r>
          </a:p>
          <a:p>
            <a:pPr marL="465138" indent="-465138">
              <a:spcBef>
                <a:spcPts val="2400"/>
              </a:spcBef>
              <a:buFont typeface="+mj-lt"/>
              <a:buAutoNum type="arabicPeriod"/>
            </a:pPr>
            <a:r>
              <a:rPr lang="en-US" sz="2800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  <a:sym typeface="Montserrat Medium"/>
              </a:rPr>
              <a:t>What is the month by month revenue breakdown for the sales territory?</a:t>
            </a:r>
          </a:p>
          <a:p>
            <a:pPr marL="465138" indent="-465138">
              <a:spcBef>
                <a:spcPts val="2400"/>
              </a:spcBef>
              <a:buFont typeface="+mj-lt"/>
              <a:buAutoNum type="arabicPeriod"/>
            </a:pPr>
            <a:r>
              <a:rPr lang="en-US" sz="2800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  <a:sym typeface="Montserrat Medium"/>
              </a:rPr>
              <a:t>Provide a comparison of total revenue for the specific sales territory and the region it belongs to.</a:t>
            </a:r>
          </a:p>
          <a:p>
            <a:pPr marL="465138" indent="-465138">
              <a:spcBef>
                <a:spcPts val="2400"/>
              </a:spcBef>
              <a:buFont typeface="+mj-lt"/>
              <a:buAutoNum type="arabicPeriod"/>
            </a:pPr>
            <a:r>
              <a:rPr lang="en-US" sz="2800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</a:rPr>
              <a:t>What is the number of transactions per month and average transaction size by product category for the sales territory?</a:t>
            </a:r>
          </a:p>
          <a:p>
            <a:pPr marL="465138" indent="-465138">
              <a:spcBef>
                <a:spcPts val="2400"/>
              </a:spcBef>
              <a:buFont typeface="+mj-lt"/>
              <a:buAutoNum type="arabicPeriod"/>
            </a:pPr>
            <a:r>
              <a:rPr lang="en-US" sz="2800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</a:rPr>
              <a:t>Can you provide a ranking of in-store sales performance by each store in the sales territory, or a ranking of online sales performance by state within an online sales territory?</a:t>
            </a:r>
          </a:p>
          <a:p>
            <a:pPr marL="465138" indent="-465138">
              <a:spcBef>
                <a:spcPts val="2400"/>
              </a:spcBef>
              <a:buFont typeface="+mj-lt"/>
              <a:buAutoNum type="arabicPeriod"/>
            </a:pPr>
            <a:r>
              <a:rPr lang="en-US" sz="2800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  <a:sym typeface="Montserrat Medium"/>
              </a:rPr>
              <a:t>What is your recommendation for where to focus sales attention in the next quarter?</a:t>
            </a:r>
            <a:r>
              <a:rPr lang="en-US" sz="3200" dirty="0">
                <a:solidFill>
                  <a:srgbClr val="3E67C8"/>
                </a:solidFill>
                <a:ea typeface="Montserrat Medium"/>
                <a:cs typeface="Montserrat Medium"/>
                <a:sym typeface="Montserrat Medium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3"/>
          <p:cNvGrpSpPr/>
          <p:nvPr/>
        </p:nvGrpSpPr>
        <p:grpSpPr>
          <a:xfrm>
            <a:off x="1" y="-46751"/>
            <a:ext cx="6172199" cy="1989851"/>
            <a:chOff x="0" y="0"/>
            <a:chExt cx="1319513" cy="471044"/>
          </a:xfrm>
        </p:grpSpPr>
        <p:sp>
          <p:nvSpPr>
            <p:cNvPr id="9" name="Freeform 4"/>
            <p:cNvSpPr/>
            <p:nvPr/>
          </p:nvSpPr>
          <p:spPr>
            <a:xfrm>
              <a:off x="0" y="0"/>
              <a:ext cx="1319513" cy="471044"/>
            </a:xfrm>
            <a:custGeom>
              <a:avLst/>
              <a:gdLst/>
              <a:ahLst/>
              <a:cxnLst/>
              <a:rect l="l" t="t" r="r" b="b"/>
              <a:pathLst>
                <a:path w="1319513" h="471044">
                  <a:moveTo>
                    <a:pt x="0" y="0"/>
                  </a:moveTo>
                  <a:lnTo>
                    <a:pt x="1319513" y="0"/>
                  </a:lnTo>
                  <a:lnTo>
                    <a:pt x="1319513" y="471044"/>
                  </a:lnTo>
                  <a:lnTo>
                    <a:pt x="0" y="471044"/>
                  </a:lnTo>
                  <a:close/>
                </a:path>
              </a:pathLst>
            </a:custGeom>
            <a:solidFill>
              <a:srgbClr val="006C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5"/>
            <p:cNvSpPr txBox="1"/>
            <p:nvPr/>
          </p:nvSpPr>
          <p:spPr>
            <a:xfrm>
              <a:off x="0" y="-38100"/>
              <a:ext cx="1319513" cy="509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95400" y="647700"/>
            <a:ext cx="4114800" cy="8574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23"/>
              </a:lnSpc>
            </a:pPr>
            <a:r>
              <a:rPr lang="en-US" sz="6000" b="1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Database</a:t>
            </a:r>
            <a:endParaRPr lang="en-US" sz="7200" b="1" dirty="0">
              <a:solidFill>
                <a:srgbClr val="FFFFFF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00204"/>
            <a:ext cx="9089760" cy="66008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9249" y="306806"/>
            <a:ext cx="7724351" cy="414204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9360" y="4381500"/>
            <a:ext cx="7445640" cy="5405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1660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2710024" y="6457897"/>
            <a:ext cx="1429437" cy="1429437"/>
          </a:xfrm>
          <a:custGeom>
            <a:avLst/>
            <a:gdLst/>
            <a:ahLst/>
            <a:cxnLst/>
            <a:rect l="l" t="t" r="r" b="b"/>
            <a:pathLst>
              <a:path w="1429437" h="1429437">
                <a:moveTo>
                  <a:pt x="0" y="0"/>
                </a:moveTo>
                <a:lnTo>
                  <a:pt x="1429437" y="0"/>
                </a:lnTo>
                <a:lnTo>
                  <a:pt x="1429437" y="1429437"/>
                </a:lnTo>
                <a:lnTo>
                  <a:pt x="0" y="1429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447800" y="3130875"/>
            <a:ext cx="1781519" cy="739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23"/>
              </a:lnSpc>
            </a:pPr>
            <a:r>
              <a:rPr lang="en-US" sz="3200" b="1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Result</a:t>
            </a:r>
            <a:endParaRPr lang="en-US" sz="7329" b="1" dirty="0">
              <a:solidFill>
                <a:srgbClr val="3E67C8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34" name="TextBox 29"/>
          <p:cNvSpPr txBox="1"/>
          <p:nvPr/>
        </p:nvSpPr>
        <p:spPr>
          <a:xfrm>
            <a:off x="9067800" y="3130875"/>
            <a:ext cx="1781519" cy="7519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23"/>
              </a:lnSpc>
            </a:pPr>
            <a:r>
              <a:rPr lang="en-US" sz="3200" b="1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Query</a:t>
            </a:r>
            <a:endParaRPr lang="en-US" sz="6600" b="1" dirty="0">
              <a:solidFill>
                <a:srgbClr val="3E67C8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35" name="TextBox 29"/>
          <p:cNvSpPr txBox="1"/>
          <p:nvPr/>
        </p:nvSpPr>
        <p:spPr>
          <a:xfrm>
            <a:off x="3048000" y="1014799"/>
            <a:ext cx="134874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</a:rPr>
              <a:t>What is total revenue overall for sales in the assigned territory, plus the start date and end date that tell you what period the data covers? </a:t>
            </a:r>
            <a:endParaRPr lang="en-US" sz="3200" dirty="0">
              <a:solidFill>
                <a:srgbClr val="3E67C8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1295400" y="1159103"/>
            <a:ext cx="1188720" cy="1188720"/>
            <a:chOff x="15163801" y="807793"/>
            <a:chExt cx="1188720" cy="1188720"/>
          </a:xfrm>
        </p:grpSpPr>
        <p:grpSp>
          <p:nvGrpSpPr>
            <p:cNvPr id="37" name="Group 20"/>
            <p:cNvGrpSpPr/>
            <p:nvPr/>
          </p:nvGrpSpPr>
          <p:grpSpPr>
            <a:xfrm>
              <a:off x="15163801" y="807793"/>
              <a:ext cx="1188720" cy="1188720"/>
              <a:chOff x="0" y="0"/>
              <a:chExt cx="225169" cy="225169"/>
            </a:xfrm>
          </p:grpSpPr>
          <p:sp>
            <p:nvSpPr>
              <p:cNvPr id="39" name="Freeform 21"/>
              <p:cNvSpPr/>
              <p:nvPr/>
            </p:nvSpPr>
            <p:spPr>
              <a:xfrm>
                <a:off x="0" y="0"/>
                <a:ext cx="225169" cy="225169"/>
              </a:xfrm>
              <a:custGeom>
                <a:avLst/>
                <a:gdLst/>
                <a:ahLst/>
                <a:cxnLst/>
                <a:rect l="l" t="t" r="r" b="b"/>
                <a:pathLst>
                  <a:path w="225169" h="225169">
                    <a:moveTo>
                      <a:pt x="0" y="0"/>
                    </a:moveTo>
                    <a:lnTo>
                      <a:pt x="225169" y="0"/>
                    </a:lnTo>
                    <a:lnTo>
                      <a:pt x="225169" y="225169"/>
                    </a:lnTo>
                    <a:lnTo>
                      <a:pt x="0" y="225169"/>
                    </a:lnTo>
                    <a:close/>
                  </a:path>
                </a:pathLst>
              </a:custGeom>
              <a:solidFill>
                <a:srgbClr val="2254C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22"/>
              <p:cNvSpPr txBox="1"/>
              <p:nvPr/>
            </p:nvSpPr>
            <p:spPr>
              <a:xfrm>
                <a:off x="0" y="-38100"/>
                <a:ext cx="225169" cy="263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99"/>
                  </a:lnSpc>
                </a:pPr>
                <a:endParaRPr/>
              </a:p>
            </p:txBody>
          </p:sp>
        </p:grpSp>
        <p:sp>
          <p:nvSpPr>
            <p:cNvPr id="38" name="TextBox 23"/>
            <p:cNvSpPr txBox="1"/>
            <p:nvPr/>
          </p:nvSpPr>
          <p:spPr>
            <a:xfrm>
              <a:off x="15487257" y="1266553"/>
              <a:ext cx="743343" cy="395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04"/>
                </a:lnSpc>
              </a:pPr>
              <a:r>
                <a:rPr lang="en-US" sz="3375" b="1" dirty="0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01</a:t>
              </a:r>
            </a:p>
          </p:txBody>
        </p:sp>
      </p:grpSp>
      <p:pic>
        <p:nvPicPr>
          <p:cNvPr id="41" name="Picture 4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17"/>
          <a:stretch/>
        </p:blipFill>
        <p:spPr>
          <a:xfrm>
            <a:off x="1447800" y="4229100"/>
            <a:ext cx="6553200" cy="30915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800" y="4178196"/>
            <a:ext cx="7808710" cy="3709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44" name="Straight Connector 43"/>
          <p:cNvCxnSpPr/>
          <p:nvPr/>
        </p:nvCxnSpPr>
        <p:spPr>
          <a:xfrm>
            <a:off x="2590800" y="2781300"/>
            <a:ext cx="1295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2710024" y="6457897"/>
            <a:ext cx="1429437" cy="1429437"/>
          </a:xfrm>
          <a:custGeom>
            <a:avLst/>
            <a:gdLst/>
            <a:ahLst/>
            <a:cxnLst/>
            <a:rect l="l" t="t" r="r" b="b"/>
            <a:pathLst>
              <a:path w="1429437" h="1429437">
                <a:moveTo>
                  <a:pt x="0" y="0"/>
                </a:moveTo>
                <a:lnTo>
                  <a:pt x="1429437" y="0"/>
                </a:lnTo>
                <a:lnTo>
                  <a:pt x="1429437" y="1429437"/>
                </a:lnTo>
                <a:lnTo>
                  <a:pt x="0" y="1429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447801" y="3130875"/>
            <a:ext cx="1600200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23"/>
              </a:lnSpc>
            </a:pPr>
            <a:r>
              <a:rPr lang="en-US" sz="3200" b="1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Result</a:t>
            </a:r>
            <a:endParaRPr lang="en-US" sz="7329" b="1" dirty="0">
              <a:solidFill>
                <a:srgbClr val="3E67C8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34" name="TextBox 29"/>
          <p:cNvSpPr txBox="1"/>
          <p:nvPr/>
        </p:nvSpPr>
        <p:spPr>
          <a:xfrm>
            <a:off x="8458201" y="3171687"/>
            <a:ext cx="1524000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23"/>
              </a:lnSpc>
            </a:pPr>
            <a:r>
              <a:rPr lang="en-US" sz="3200" b="1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Query</a:t>
            </a:r>
            <a:endParaRPr lang="en-US" sz="7329" b="1" dirty="0">
              <a:solidFill>
                <a:srgbClr val="3E67C8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35" name="TextBox 29"/>
          <p:cNvSpPr txBox="1"/>
          <p:nvPr/>
        </p:nvSpPr>
        <p:spPr>
          <a:xfrm>
            <a:off x="3048000" y="1261020"/>
            <a:ext cx="134874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</a:rPr>
              <a:t>What is the month by month revenue breakdown for the sales territory? </a:t>
            </a:r>
            <a:endParaRPr lang="en-US" sz="3200" dirty="0">
              <a:solidFill>
                <a:srgbClr val="3E67C8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1295400" y="1159103"/>
            <a:ext cx="1188720" cy="1188720"/>
            <a:chOff x="15163801" y="807793"/>
            <a:chExt cx="1188720" cy="1188720"/>
          </a:xfrm>
        </p:grpSpPr>
        <p:grpSp>
          <p:nvGrpSpPr>
            <p:cNvPr id="37" name="Group 20"/>
            <p:cNvGrpSpPr/>
            <p:nvPr/>
          </p:nvGrpSpPr>
          <p:grpSpPr>
            <a:xfrm>
              <a:off x="15163801" y="807793"/>
              <a:ext cx="1188720" cy="1188720"/>
              <a:chOff x="0" y="0"/>
              <a:chExt cx="225169" cy="225169"/>
            </a:xfrm>
          </p:grpSpPr>
          <p:sp>
            <p:nvSpPr>
              <p:cNvPr id="39" name="Freeform 21"/>
              <p:cNvSpPr/>
              <p:nvPr/>
            </p:nvSpPr>
            <p:spPr>
              <a:xfrm>
                <a:off x="0" y="0"/>
                <a:ext cx="225169" cy="225169"/>
              </a:xfrm>
              <a:custGeom>
                <a:avLst/>
                <a:gdLst/>
                <a:ahLst/>
                <a:cxnLst/>
                <a:rect l="l" t="t" r="r" b="b"/>
                <a:pathLst>
                  <a:path w="225169" h="225169">
                    <a:moveTo>
                      <a:pt x="0" y="0"/>
                    </a:moveTo>
                    <a:lnTo>
                      <a:pt x="225169" y="0"/>
                    </a:lnTo>
                    <a:lnTo>
                      <a:pt x="225169" y="225169"/>
                    </a:lnTo>
                    <a:lnTo>
                      <a:pt x="0" y="225169"/>
                    </a:lnTo>
                    <a:close/>
                  </a:path>
                </a:pathLst>
              </a:custGeom>
              <a:solidFill>
                <a:srgbClr val="2254C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22"/>
              <p:cNvSpPr txBox="1"/>
              <p:nvPr/>
            </p:nvSpPr>
            <p:spPr>
              <a:xfrm>
                <a:off x="0" y="-38100"/>
                <a:ext cx="225169" cy="263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99"/>
                  </a:lnSpc>
                </a:pPr>
                <a:endParaRPr/>
              </a:p>
            </p:txBody>
          </p:sp>
        </p:grpSp>
        <p:sp>
          <p:nvSpPr>
            <p:cNvPr id="38" name="TextBox 23"/>
            <p:cNvSpPr txBox="1"/>
            <p:nvPr/>
          </p:nvSpPr>
          <p:spPr>
            <a:xfrm>
              <a:off x="15487257" y="1266553"/>
              <a:ext cx="743343" cy="395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04"/>
                </a:lnSpc>
              </a:pPr>
              <a:r>
                <a:rPr lang="en-US" sz="3375" b="1" dirty="0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02</a:t>
              </a:r>
            </a:p>
          </p:txBody>
        </p:sp>
      </p:grpSp>
      <p:pic>
        <p:nvPicPr>
          <p:cNvPr id="41" name="Picture 4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311" y="4158570"/>
            <a:ext cx="5444889" cy="47052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913" y="4172607"/>
            <a:ext cx="8688015" cy="40590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4" name="Straight Connector 13"/>
          <p:cNvCxnSpPr/>
          <p:nvPr/>
        </p:nvCxnSpPr>
        <p:spPr>
          <a:xfrm>
            <a:off x="2590800" y="2781300"/>
            <a:ext cx="1295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019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2710024" y="6457897"/>
            <a:ext cx="1429437" cy="1429437"/>
          </a:xfrm>
          <a:custGeom>
            <a:avLst/>
            <a:gdLst/>
            <a:ahLst/>
            <a:cxnLst/>
            <a:rect l="l" t="t" r="r" b="b"/>
            <a:pathLst>
              <a:path w="1429437" h="1429437">
                <a:moveTo>
                  <a:pt x="0" y="0"/>
                </a:moveTo>
                <a:lnTo>
                  <a:pt x="1429437" y="0"/>
                </a:lnTo>
                <a:lnTo>
                  <a:pt x="1429437" y="1429437"/>
                </a:lnTo>
                <a:lnTo>
                  <a:pt x="0" y="1429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447801" y="2933700"/>
            <a:ext cx="1600200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23"/>
              </a:lnSpc>
            </a:pPr>
            <a:r>
              <a:rPr lang="en-US" sz="3200" b="1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Result</a:t>
            </a:r>
            <a:endParaRPr lang="en-US" sz="7329" b="1" dirty="0">
              <a:solidFill>
                <a:srgbClr val="3E67C8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34" name="TextBox 29"/>
          <p:cNvSpPr txBox="1"/>
          <p:nvPr/>
        </p:nvSpPr>
        <p:spPr>
          <a:xfrm>
            <a:off x="8001000" y="2938338"/>
            <a:ext cx="1524000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23"/>
              </a:lnSpc>
            </a:pPr>
            <a:r>
              <a:rPr lang="en-US" sz="3200" b="1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Query</a:t>
            </a:r>
            <a:endParaRPr lang="en-US" sz="7329" b="1" dirty="0">
              <a:solidFill>
                <a:srgbClr val="3E67C8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35" name="TextBox 29"/>
          <p:cNvSpPr txBox="1"/>
          <p:nvPr/>
        </p:nvSpPr>
        <p:spPr>
          <a:xfrm>
            <a:off x="3048000" y="1261020"/>
            <a:ext cx="134874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</a:rPr>
              <a:t>Provide a comparison of total revenue for the specific sales territory and the region it belongs to.  </a:t>
            </a:r>
            <a:endParaRPr lang="en-US" sz="3200" dirty="0">
              <a:solidFill>
                <a:srgbClr val="3E67C8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1295400" y="1159103"/>
            <a:ext cx="1188720" cy="1188720"/>
            <a:chOff x="15163801" y="807793"/>
            <a:chExt cx="1188720" cy="1188720"/>
          </a:xfrm>
        </p:grpSpPr>
        <p:grpSp>
          <p:nvGrpSpPr>
            <p:cNvPr id="37" name="Group 20"/>
            <p:cNvGrpSpPr/>
            <p:nvPr/>
          </p:nvGrpSpPr>
          <p:grpSpPr>
            <a:xfrm>
              <a:off x="15163801" y="807793"/>
              <a:ext cx="1188720" cy="1188720"/>
              <a:chOff x="0" y="0"/>
              <a:chExt cx="225169" cy="225169"/>
            </a:xfrm>
          </p:grpSpPr>
          <p:sp>
            <p:nvSpPr>
              <p:cNvPr id="39" name="Freeform 21"/>
              <p:cNvSpPr/>
              <p:nvPr/>
            </p:nvSpPr>
            <p:spPr>
              <a:xfrm>
                <a:off x="0" y="0"/>
                <a:ext cx="225169" cy="225169"/>
              </a:xfrm>
              <a:custGeom>
                <a:avLst/>
                <a:gdLst/>
                <a:ahLst/>
                <a:cxnLst/>
                <a:rect l="l" t="t" r="r" b="b"/>
                <a:pathLst>
                  <a:path w="225169" h="225169">
                    <a:moveTo>
                      <a:pt x="0" y="0"/>
                    </a:moveTo>
                    <a:lnTo>
                      <a:pt x="225169" y="0"/>
                    </a:lnTo>
                    <a:lnTo>
                      <a:pt x="225169" y="225169"/>
                    </a:lnTo>
                    <a:lnTo>
                      <a:pt x="0" y="225169"/>
                    </a:lnTo>
                    <a:close/>
                  </a:path>
                </a:pathLst>
              </a:custGeom>
              <a:solidFill>
                <a:srgbClr val="2254C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22"/>
              <p:cNvSpPr txBox="1"/>
              <p:nvPr/>
            </p:nvSpPr>
            <p:spPr>
              <a:xfrm>
                <a:off x="0" y="-38100"/>
                <a:ext cx="225169" cy="263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99"/>
                  </a:lnSpc>
                </a:pPr>
                <a:endParaRPr/>
              </a:p>
            </p:txBody>
          </p:sp>
        </p:grpSp>
        <p:sp>
          <p:nvSpPr>
            <p:cNvPr id="38" name="TextBox 23"/>
            <p:cNvSpPr txBox="1"/>
            <p:nvPr/>
          </p:nvSpPr>
          <p:spPr>
            <a:xfrm>
              <a:off x="15487257" y="1266553"/>
              <a:ext cx="743343" cy="395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04"/>
                </a:lnSpc>
              </a:pPr>
              <a:r>
                <a:rPr lang="en-US" sz="3375" b="1" dirty="0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03</a:t>
              </a:r>
            </a:p>
          </p:txBody>
        </p:sp>
      </p:grpSp>
      <p:pic>
        <p:nvPicPr>
          <p:cNvPr id="41" name="Picture 4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843" y="3848100"/>
            <a:ext cx="5444889" cy="28297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3848100"/>
            <a:ext cx="9362772" cy="5486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4" name="Straight Connector 13"/>
          <p:cNvCxnSpPr/>
          <p:nvPr/>
        </p:nvCxnSpPr>
        <p:spPr>
          <a:xfrm>
            <a:off x="2590800" y="2781300"/>
            <a:ext cx="1295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0305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2710024" y="6457897"/>
            <a:ext cx="1429437" cy="1429437"/>
          </a:xfrm>
          <a:custGeom>
            <a:avLst/>
            <a:gdLst/>
            <a:ahLst/>
            <a:cxnLst/>
            <a:rect l="l" t="t" r="r" b="b"/>
            <a:pathLst>
              <a:path w="1429437" h="1429437">
                <a:moveTo>
                  <a:pt x="0" y="0"/>
                </a:moveTo>
                <a:lnTo>
                  <a:pt x="1429437" y="0"/>
                </a:lnTo>
                <a:lnTo>
                  <a:pt x="1429437" y="1429437"/>
                </a:lnTo>
                <a:lnTo>
                  <a:pt x="0" y="1429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447801" y="3014538"/>
            <a:ext cx="1600200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23"/>
              </a:lnSpc>
            </a:pPr>
            <a:r>
              <a:rPr lang="en-US" sz="3200" b="1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Result</a:t>
            </a:r>
            <a:endParaRPr lang="en-US" sz="7329" b="1" dirty="0">
              <a:solidFill>
                <a:srgbClr val="3E67C8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34" name="TextBox 29"/>
          <p:cNvSpPr txBox="1"/>
          <p:nvPr/>
        </p:nvSpPr>
        <p:spPr>
          <a:xfrm>
            <a:off x="8763000" y="3014538"/>
            <a:ext cx="1524000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23"/>
              </a:lnSpc>
            </a:pPr>
            <a:r>
              <a:rPr lang="en-US" sz="3200" b="1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Query</a:t>
            </a:r>
            <a:endParaRPr lang="en-US" sz="7329" b="1" dirty="0">
              <a:solidFill>
                <a:srgbClr val="3E67C8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35" name="TextBox 29"/>
          <p:cNvSpPr txBox="1"/>
          <p:nvPr/>
        </p:nvSpPr>
        <p:spPr>
          <a:xfrm>
            <a:off x="3048000" y="1261020"/>
            <a:ext cx="134874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</a:rPr>
              <a:t>What is the number of transactions per month and average transaction size by product category for the sales territory?</a:t>
            </a:r>
            <a:endParaRPr lang="en-US" sz="3200" dirty="0">
              <a:solidFill>
                <a:srgbClr val="3E67C8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1295400" y="1159103"/>
            <a:ext cx="1188720" cy="1188720"/>
            <a:chOff x="15163801" y="807793"/>
            <a:chExt cx="1188720" cy="1188720"/>
          </a:xfrm>
        </p:grpSpPr>
        <p:grpSp>
          <p:nvGrpSpPr>
            <p:cNvPr id="37" name="Group 20"/>
            <p:cNvGrpSpPr/>
            <p:nvPr/>
          </p:nvGrpSpPr>
          <p:grpSpPr>
            <a:xfrm>
              <a:off x="15163801" y="807793"/>
              <a:ext cx="1188720" cy="1188720"/>
              <a:chOff x="0" y="0"/>
              <a:chExt cx="225169" cy="225169"/>
            </a:xfrm>
          </p:grpSpPr>
          <p:sp>
            <p:nvSpPr>
              <p:cNvPr id="39" name="Freeform 21"/>
              <p:cNvSpPr/>
              <p:nvPr/>
            </p:nvSpPr>
            <p:spPr>
              <a:xfrm>
                <a:off x="0" y="0"/>
                <a:ext cx="225169" cy="225169"/>
              </a:xfrm>
              <a:custGeom>
                <a:avLst/>
                <a:gdLst/>
                <a:ahLst/>
                <a:cxnLst/>
                <a:rect l="l" t="t" r="r" b="b"/>
                <a:pathLst>
                  <a:path w="225169" h="225169">
                    <a:moveTo>
                      <a:pt x="0" y="0"/>
                    </a:moveTo>
                    <a:lnTo>
                      <a:pt x="225169" y="0"/>
                    </a:lnTo>
                    <a:lnTo>
                      <a:pt x="225169" y="225169"/>
                    </a:lnTo>
                    <a:lnTo>
                      <a:pt x="0" y="225169"/>
                    </a:lnTo>
                    <a:close/>
                  </a:path>
                </a:pathLst>
              </a:custGeom>
              <a:solidFill>
                <a:srgbClr val="2254C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22"/>
              <p:cNvSpPr txBox="1"/>
              <p:nvPr/>
            </p:nvSpPr>
            <p:spPr>
              <a:xfrm>
                <a:off x="0" y="-38100"/>
                <a:ext cx="225169" cy="263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99"/>
                  </a:lnSpc>
                </a:pPr>
                <a:endParaRPr/>
              </a:p>
            </p:txBody>
          </p:sp>
        </p:grpSp>
        <p:sp>
          <p:nvSpPr>
            <p:cNvPr id="38" name="TextBox 23"/>
            <p:cNvSpPr txBox="1"/>
            <p:nvPr/>
          </p:nvSpPr>
          <p:spPr>
            <a:xfrm>
              <a:off x="15487257" y="1266553"/>
              <a:ext cx="743343" cy="395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04"/>
                </a:lnSpc>
              </a:pPr>
              <a:r>
                <a:rPr lang="en-US" sz="3375" b="1" dirty="0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04</a:t>
              </a:r>
            </a:p>
          </p:txBody>
        </p:sp>
      </p:grpSp>
      <p:pic>
        <p:nvPicPr>
          <p:cNvPr id="41" name="Picture 4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551" y="3982032"/>
            <a:ext cx="6509049" cy="283786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100" y="3989823"/>
            <a:ext cx="8383700" cy="46588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4" name="Straight Connector 13"/>
          <p:cNvCxnSpPr/>
          <p:nvPr/>
        </p:nvCxnSpPr>
        <p:spPr>
          <a:xfrm>
            <a:off x="2590800" y="2781300"/>
            <a:ext cx="1295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359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2710024" y="6457897"/>
            <a:ext cx="1429437" cy="1429437"/>
          </a:xfrm>
          <a:custGeom>
            <a:avLst/>
            <a:gdLst/>
            <a:ahLst/>
            <a:cxnLst/>
            <a:rect l="l" t="t" r="r" b="b"/>
            <a:pathLst>
              <a:path w="1429437" h="1429437">
                <a:moveTo>
                  <a:pt x="0" y="0"/>
                </a:moveTo>
                <a:lnTo>
                  <a:pt x="1429437" y="0"/>
                </a:lnTo>
                <a:lnTo>
                  <a:pt x="1429437" y="1429437"/>
                </a:lnTo>
                <a:lnTo>
                  <a:pt x="0" y="1429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1447801" y="3242505"/>
            <a:ext cx="1600200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23"/>
              </a:lnSpc>
            </a:pPr>
            <a:r>
              <a:rPr lang="en-US" sz="3200" b="1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Result</a:t>
            </a:r>
            <a:endParaRPr lang="en-US" sz="7329" b="1" dirty="0">
              <a:solidFill>
                <a:srgbClr val="3E67C8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34" name="TextBox 29"/>
          <p:cNvSpPr txBox="1"/>
          <p:nvPr/>
        </p:nvSpPr>
        <p:spPr>
          <a:xfrm>
            <a:off x="8077200" y="3242505"/>
            <a:ext cx="1524000" cy="833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23"/>
              </a:lnSpc>
            </a:pPr>
            <a:r>
              <a:rPr lang="en-US" sz="3200" b="1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Query</a:t>
            </a:r>
            <a:endParaRPr lang="en-US" sz="7329" b="1" dirty="0">
              <a:solidFill>
                <a:srgbClr val="3E67C8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35" name="TextBox 29"/>
          <p:cNvSpPr txBox="1"/>
          <p:nvPr/>
        </p:nvSpPr>
        <p:spPr>
          <a:xfrm>
            <a:off x="3048000" y="1075372"/>
            <a:ext cx="134874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</a:rPr>
              <a:t>Can you provide a ranking of in-store sales performance by each store in the sales territory, or a ranking of online sales performance by state within an online sales territory? </a:t>
            </a:r>
            <a:endParaRPr lang="en-US" sz="3200" dirty="0">
              <a:solidFill>
                <a:srgbClr val="3E67C8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1295400" y="1159103"/>
            <a:ext cx="1188720" cy="1188720"/>
            <a:chOff x="15163801" y="807793"/>
            <a:chExt cx="1188720" cy="1188720"/>
          </a:xfrm>
        </p:grpSpPr>
        <p:grpSp>
          <p:nvGrpSpPr>
            <p:cNvPr id="37" name="Group 20"/>
            <p:cNvGrpSpPr/>
            <p:nvPr/>
          </p:nvGrpSpPr>
          <p:grpSpPr>
            <a:xfrm>
              <a:off x="15163801" y="807793"/>
              <a:ext cx="1188720" cy="1188720"/>
              <a:chOff x="0" y="0"/>
              <a:chExt cx="225169" cy="225169"/>
            </a:xfrm>
          </p:grpSpPr>
          <p:sp>
            <p:nvSpPr>
              <p:cNvPr id="39" name="Freeform 21"/>
              <p:cNvSpPr/>
              <p:nvPr/>
            </p:nvSpPr>
            <p:spPr>
              <a:xfrm>
                <a:off x="0" y="0"/>
                <a:ext cx="225169" cy="225169"/>
              </a:xfrm>
              <a:custGeom>
                <a:avLst/>
                <a:gdLst/>
                <a:ahLst/>
                <a:cxnLst/>
                <a:rect l="l" t="t" r="r" b="b"/>
                <a:pathLst>
                  <a:path w="225169" h="225169">
                    <a:moveTo>
                      <a:pt x="0" y="0"/>
                    </a:moveTo>
                    <a:lnTo>
                      <a:pt x="225169" y="0"/>
                    </a:lnTo>
                    <a:lnTo>
                      <a:pt x="225169" y="225169"/>
                    </a:lnTo>
                    <a:lnTo>
                      <a:pt x="0" y="225169"/>
                    </a:lnTo>
                    <a:close/>
                  </a:path>
                </a:pathLst>
              </a:custGeom>
              <a:solidFill>
                <a:srgbClr val="2254C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22"/>
              <p:cNvSpPr txBox="1"/>
              <p:nvPr/>
            </p:nvSpPr>
            <p:spPr>
              <a:xfrm>
                <a:off x="0" y="-38100"/>
                <a:ext cx="225169" cy="263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99"/>
                  </a:lnSpc>
                </a:pPr>
                <a:endParaRPr/>
              </a:p>
            </p:txBody>
          </p:sp>
        </p:grpSp>
        <p:sp>
          <p:nvSpPr>
            <p:cNvPr id="38" name="TextBox 23"/>
            <p:cNvSpPr txBox="1"/>
            <p:nvPr/>
          </p:nvSpPr>
          <p:spPr>
            <a:xfrm>
              <a:off x="15487257" y="1266553"/>
              <a:ext cx="743343" cy="395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04"/>
                </a:lnSpc>
              </a:pPr>
              <a:r>
                <a:rPr lang="en-US" sz="3375" b="1" dirty="0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05</a:t>
              </a:r>
            </a:p>
          </p:txBody>
        </p:sp>
      </p:grpSp>
      <p:pic>
        <p:nvPicPr>
          <p:cNvPr id="41" name="Picture 4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1" y="4171393"/>
            <a:ext cx="5521468" cy="394390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4152267"/>
            <a:ext cx="9256867" cy="34860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cxnSp>
        <p:nvCxnSpPr>
          <p:cNvPr id="14" name="Straight Connector 13"/>
          <p:cNvCxnSpPr/>
          <p:nvPr/>
        </p:nvCxnSpPr>
        <p:spPr>
          <a:xfrm>
            <a:off x="2590800" y="2781300"/>
            <a:ext cx="1295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3791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2710024" y="6457897"/>
            <a:ext cx="1429437" cy="1429437"/>
          </a:xfrm>
          <a:custGeom>
            <a:avLst/>
            <a:gdLst/>
            <a:ahLst/>
            <a:cxnLst/>
            <a:rect l="l" t="t" r="r" b="b"/>
            <a:pathLst>
              <a:path w="1429437" h="1429437">
                <a:moveTo>
                  <a:pt x="0" y="0"/>
                </a:moveTo>
                <a:lnTo>
                  <a:pt x="1429437" y="0"/>
                </a:lnTo>
                <a:lnTo>
                  <a:pt x="1429437" y="1429437"/>
                </a:lnTo>
                <a:lnTo>
                  <a:pt x="0" y="1429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29"/>
          <p:cNvSpPr txBox="1"/>
          <p:nvPr/>
        </p:nvSpPr>
        <p:spPr>
          <a:xfrm>
            <a:off x="3048000" y="1028700"/>
            <a:ext cx="13487400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</a:rPr>
              <a:t>What is your recommendation for where to focus sales attention in the next quarter?</a:t>
            </a:r>
            <a:endParaRPr lang="en-US" sz="3200" dirty="0">
              <a:solidFill>
                <a:srgbClr val="3E67C8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1295400" y="952500"/>
            <a:ext cx="1188720" cy="1188720"/>
            <a:chOff x="15163801" y="807793"/>
            <a:chExt cx="1188720" cy="1188720"/>
          </a:xfrm>
        </p:grpSpPr>
        <p:grpSp>
          <p:nvGrpSpPr>
            <p:cNvPr id="37" name="Group 20"/>
            <p:cNvGrpSpPr/>
            <p:nvPr/>
          </p:nvGrpSpPr>
          <p:grpSpPr>
            <a:xfrm>
              <a:off x="15163801" y="807793"/>
              <a:ext cx="1188720" cy="1188720"/>
              <a:chOff x="0" y="0"/>
              <a:chExt cx="225169" cy="225169"/>
            </a:xfrm>
          </p:grpSpPr>
          <p:sp>
            <p:nvSpPr>
              <p:cNvPr id="39" name="Freeform 21"/>
              <p:cNvSpPr/>
              <p:nvPr/>
            </p:nvSpPr>
            <p:spPr>
              <a:xfrm>
                <a:off x="0" y="0"/>
                <a:ext cx="225169" cy="225169"/>
              </a:xfrm>
              <a:custGeom>
                <a:avLst/>
                <a:gdLst/>
                <a:ahLst/>
                <a:cxnLst/>
                <a:rect l="l" t="t" r="r" b="b"/>
                <a:pathLst>
                  <a:path w="225169" h="225169">
                    <a:moveTo>
                      <a:pt x="0" y="0"/>
                    </a:moveTo>
                    <a:lnTo>
                      <a:pt x="225169" y="0"/>
                    </a:lnTo>
                    <a:lnTo>
                      <a:pt x="225169" y="225169"/>
                    </a:lnTo>
                    <a:lnTo>
                      <a:pt x="0" y="225169"/>
                    </a:lnTo>
                    <a:close/>
                  </a:path>
                </a:pathLst>
              </a:custGeom>
              <a:solidFill>
                <a:srgbClr val="2254C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22"/>
              <p:cNvSpPr txBox="1"/>
              <p:nvPr/>
            </p:nvSpPr>
            <p:spPr>
              <a:xfrm>
                <a:off x="0" y="-38100"/>
                <a:ext cx="225169" cy="2632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99"/>
                  </a:lnSpc>
                </a:pPr>
                <a:endParaRPr/>
              </a:p>
            </p:txBody>
          </p:sp>
        </p:grpSp>
        <p:sp>
          <p:nvSpPr>
            <p:cNvPr id="38" name="TextBox 23"/>
            <p:cNvSpPr txBox="1"/>
            <p:nvPr/>
          </p:nvSpPr>
          <p:spPr>
            <a:xfrm>
              <a:off x="15487257" y="1266553"/>
              <a:ext cx="743343" cy="395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04"/>
                </a:lnSpc>
              </a:pPr>
              <a:r>
                <a:rPr lang="en-US" sz="3375" b="1" dirty="0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06</a:t>
              </a:r>
            </a:p>
          </p:txBody>
        </p:sp>
      </p:grpSp>
      <p:cxnSp>
        <p:nvCxnSpPr>
          <p:cNvPr id="14" name="Straight Connector 13"/>
          <p:cNvCxnSpPr/>
          <p:nvPr/>
        </p:nvCxnSpPr>
        <p:spPr>
          <a:xfrm>
            <a:off x="2590800" y="2171700"/>
            <a:ext cx="1295400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29"/>
          <p:cNvSpPr txBox="1"/>
          <p:nvPr/>
        </p:nvSpPr>
        <p:spPr>
          <a:xfrm>
            <a:off x="1447800" y="2247900"/>
            <a:ext cx="15087600" cy="504753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endParaRPr lang="en-US" sz="2400" dirty="0">
              <a:solidFill>
                <a:srgbClr val="3E67C8"/>
              </a:solidFill>
              <a:latin typeface="Montserrat Medium" panose="020B0604020202020204" charset="0"/>
              <a:ea typeface="Montserrat Semi-Bold"/>
              <a:cs typeface="Montserrat Semi-Bold"/>
            </a:endParaRPr>
          </a:p>
          <a:p>
            <a:r>
              <a:rPr lang="en-US" sz="2400" dirty="0">
                <a:solidFill>
                  <a:srgbClr val="3E67C8"/>
                </a:solidFill>
                <a:latin typeface="Montserrat Medium" panose="020B0604020202020204" charset="0"/>
                <a:ea typeface="Montserrat Semi-Bold"/>
                <a:cs typeface="Montserrat Semi-Bold"/>
              </a:rPr>
              <a:t>Based on my SQL analysis, I observed the following key trends:</a:t>
            </a:r>
          </a:p>
          <a:p>
            <a:pPr marL="457200" indent="-457200">
              <a:spcBef>
                <a:spcPts val="1200"/>
              </a:spcBef>
              <a:buAutoNum type="arabicPeriod"/>
            </a:pPr>
            <a:r>
              <a:rPr lang="en-US" sz="2400" dirty="0">
                <a:solidFill>
                  <a:srgbClr val="3E67C8"/>
                </a:solidFill>
                <a:latin typeface="Montserrat Medium" panose="020B0604020202020204" charset="0"/>
                <a:ea typeface="Montserrat Semi-Bold"/>
                <a:cs typeface="Montserrat Semi-Bold"/>
              </a:rPr>
              <a:t>Growth &amp; Impact: Monthly revenue in the Massachusetts territory increased gradually from 2022 to 2025. Furthermore, comparing the state total revenue ($5,733,256.27) to the Northeast regional total ($24,237,526.98) shows that Massachusetts is a significant contributor, accounting for nearly 24% of the entire region's revenue.</a:t>
            </a:r>
          </a:p>
          <a:p>
            <a:pPr marL="457200" indent="-457200">
              <a:spcBef>
                <a:spcPts val="1200"/>
              </a:spcBef>
              <a:buAutoNum type="arabicPeriod"/>
            </a:pPr>
            <a:r>
              <a:rPr lang="en-US" sz="2400" dirty="0">
                <a:solidFill>
                  <a:srgbClr val="3E67C8"/>
                </a:solidFill>
                <a:latin typeface="Montserrat Medium" panose="020B0604020202020204" charset="0"/>
                <a:ea typeface="Montserrat Semi-Bold"/>
                <a:cs typeface="Montserrat Semi-Bold"/>
              </a:rPr>
              <a:t>Product Value: The 'Technology &amp; Accessories' category maintains the highest average    transaction size across all months, followed closely by the 'Textbooks' category.</a:t>
            </a:r>
          </a:p>
          <a:p>
            <a:pPr marL="457200" indent="-457200">
              <a:spcBef>
                <a:spcPts val="1200"/>
              </a:spcBef>
              <a:buAutoNum type="arabicPeriod"/>
            </a:pPr>
            <a:r>
              <a:rPr lang="en-US" sz="2400" dirty="0">
                <a:solidFill>
                  <a:srgbClr val="3E67C8"/>
                </a:solidFill>
                <a:latin typeface="Montserrat Medium" panose="020B0604020202020204" charset="0"/>
                <a:ea typeface="Montserrat Semi-Bold"/>
                <a:cs typeface="Montserrat Semi-Bold"/>
              </a:rPr>
              <a:t>Store Performance Gap: There is a substantial performance gap within the territory. Store 817 is the top performer ($602,183.44), while the second-highest, Store 807, lags significantly behind ($338,009.10). </a:t>
            </a:r>
          </a:p>
          <a:p>
            <a:pPr marL="457200" indent="-457200">
              <a:spcBef>
                <a:spcPts val="1200"/>
              </a:spcBef>
              <a:buAutoNum type="arabicPeriod"/>
            </a:pPr>
            <a:endParaRPr lang="en-US" sz="2400" dirty="0">
              <a:solidFill>
                <a:srgbClr val="3E67C8"/>
              </a:solidFill>
              <a:latin typeface="Montserrat Medium" panose="020B0604020202020204" charset="0"/>
              <a:ea typeface="Montserrat Semi-Bold"/>
              <a:cs typeface="Montserrat Semi-Bold"/>
              <a:sym typeface="Montserrat Semi-Bold"/>
            </a:endParaRPr>
          </a:p>
        </p:txBody>
      </p:sp>
      <p:grpSp>
        <p:nvGrpSpPr>
          <p:cNvPr id="17" name="Group 3"/>
          <p:cNvGrpSpPr/>
          <p:nvPr/>
        </p:nvGrpSpPr>
        <p:grpSpPr>
          <a:xfrm>
            <a:off x="0" y="6896100"/>
            <a:ext cx="18288000" cy="3390900"/>
            <a:chOff x="0" y="0"/>
            <a:chExt cx="3351573" cy="2944662"/>
          </a:xfrm>
        </p:grpSpPr>
        <p:sp>
          <p:nvSpPr>
            <p:cNvPr id="18" name="Freeform 4"/>
            <p:cNvSpPr/>
            <p:nvPr/>
          </p:nvSpPr>
          <p:spPr>
            <a:xfrm>
              <a:off x="0" y="0"/>
              <a:ext cx="3351573" cy="2944662"/>
            </a:xfrm>
            <a:custGeom>
              <a:avLst/>
              <a:gdLst/>
              <a:ahLst/>
              <a:cxnLst/>
              <a:rect l="l" t="t" r="r" b="b"/>
              <a:pathLst>
                <a:path w="3351573" h="2944662">
                  <a:moveTo>
                    <a:pt x="0" y="0"/>
                  </a:moveTo>
                  <a:lnTo>
                    <a:pt x="3351573" y="0"/>
                  </a:lnTo>
                  <a:lnTo>
                    <a:pt x="3351573" y="2944662"/>
                  </a:lnTo>
                  <a:lnTo>
                    <a:pt x="0" y="2944662"/>
                  </a:lnTo>
                  <a:close/>
                </a:path>
              </a:pathLst>
            </a:custGeom>
            <a:solidFill>
              <a:srgbClr val="006C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5"/>
            <p:cNvSpPr txBox="1"/>
            <p:nvPr/>
          </p:nvSpPr>
          <p:spPr>
            <a:xfrm>
              <a:off x="0" y="-38100"/>
              <a:ext cx="3351573" cy="29827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371600" y="7039332"/>
            <a:ext cx="156210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Montserrat Medium" panose="020B0604020202020204" charset="0"/>
                <a:ea typeface="Montserrat Semi-Bold"/>
                <a:cs typeface="Montserrat Semi-Bold"/>
              </a:rPr>
              <a:t>Recommendation</a:t>
            </a:r>
            <a:r>
              <a:rPr lang="en-US" sz="2800" dirty="0">
                <a:solidFill>
                  <a:schemeClr val="bg1"/>
                </a:solidFill>
                <a:latin typeface="Montserrat Medium" panose="020B0604020202020204" charset="0"/>
                <a:ea typeface="Montserrat Semi-Bold"/>
                <a:cs typeface="Montserrat Semi-Bold"/>
              </a:rPr>
              <a:t>:</a:t>
            </a:r>
            <a:endParaRPr lang="en-US" sz="2400" dirty="0">
              <a:solidFill>
                <a:schemeClr val="bg1"/>
              </a:solidFill>
              <a:latin typeface="Montserrat Medium" panose="020B0604020202020204" charset="0"/>
              <a:ea typeface="Montserrat Semi-Bold"/>
              <a:cs typeface="Montserrat Semi-Bold"/>
            </a:endParaRPr>
          </a:p>
          <a:p>
            <a:pPr>
              <a:spcBef>
                <a:spcPts val="1200"/>
              </a:spcBef>
            </a:pPr>
            <a:r>
              <a:rPr lang="en-US" sz="2400" dirty="0">
                <a:solidFill>
                  <a:schemeClr val="bg1"/>
                </a:solidFill>
                <a:latin typeface="Montserrat Medium" panose="020B0604020202020204" charset="0"/>
                <a:ea typeface="Montserrat Semi-Bold"/>
                <a:cs typeface="Montserrat Semi-Bold"/>
              </a:rPr>
              <a:t>I recommend a dual-focus strategy for the next quarter. First, we should maximize high-value categories by prioritizing 'Technology &amp; Accessories' sales across the state through targeted promotions. Second, we must bridge the performance gap between our top-tier and mid-tier locations. Specifically, I recommend using Store 817 as a training model and having the manager of Store 807 observe their sales techniques and floor layout to help increase overall territory revenue.</a:t>
            </a:r>
          </a:p>
        </p:txBody>
      </p:sp>
    </p:spTree>
    <p:extLst>
      <p:ext uri="{BB962C8B-B14F-4D97-AF65-F5344CB8AC3E}">
        <p14:creationId xmlns:p14="http://schemas.microsoft.com/office/powerpoint/2010/main" val="7841984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2710024" y="6457897"/>
            <a:ext cx="1429437" cy="1429437"/>
          </a:xfrm>
          <a:custGeom>
            <a:avLst/>
            <a:gdLst/>
            <a:ahLst/>
            <a:cxnLst/>
            <a:rect l="l" t="t" r="r" b="b"/>
            <a:pathLst>
              <a:path w="1429437" h="1429437">
                <a:moveTo>
                  <a:pt x="0" y="0"/>
                </a:moveTo>
                <a:lnTo>
                  <a:pt x="1429437" y="0"/>
                </a:lnTo>
                <a:lnTo>
                  <a:pt x="1429437" y="1429437"/>
                </a:lnTo>
                <a:lnTo>
                  <a:pt x="0" y="1429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29"/>
          <p:cNvSpPr txBox="1"/>
          <p:nvPr/>
        </p:nvSpPr>
        <p:spPr>
          <a:xfrm>
            <a:off x="1371600" y="2593657"/>
            <a:ext cx="15240000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</a:rPr>
              <a:t>What is the month by month revenue breakdown for the sales territory?</a:t>
            </a:r>
            <a:endParaRPr lang="en-US" sz="3200" dirty="0">
              <a:solidFill>
                <a:srgbClr val="3E67C8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1295400" y="751361"/>
            <a:ext cx="1188720" cy="1389859"/>
            <a:chOff x="15163801" y="606654"/>
            <a:chExt cx="1188720" cy="1389859"/>
          </a:xfrm>
        </p:grpSpPr>
        <p:sp>
          <p:nvSpPr>
            <p:cNvPr id="40" name="TextBox 22"/>
            <p:cNvSpPr txBox="1"/>
            <p:nvPr/>
          </p:nvSpPr>
          <p:spPr>
            <a:xfrm>
              <a:off x="15163801" y="606654"/>
              <a:ext cx="1188720" cy="1389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  <p:sp>
          <p:nvSpPr>
            <p:cNvPr id="38" name="TextBox 23"/>
            <p:cNvSpPr txBox="1"/>
            <p:nvPr/>
          </p:nvSpPr>
          <p:spPr>
            <a:xfrm>
              <a:off x="15487257" y="1266553"/>
              <a:ext cx="743343" cy="3954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04"/>
                </a:lnSpc>
              </a:pPr>
              <a:r>
                <a:rPr lang="en-US" sz="3375" b="1" dirty="0">
                  <a:solidFill>
                    <a:srgbClr val="FFFFFF"/>
                  </a:solidFill>
                  <a:latin typeface="Montserrat Ultra-Bold"/>
                  <a:ea typeface="Montserrat Ultra-Bold"/>
                  <a:cs typeface="Montserrat Ultra-Bold"/>
                  <a:sym typeface="Montserrat Ultra-Bold"/>
                </a:rPr>
                <a:t>06</a:t>
              </a:r>
            </a:p>
          </p:txBody>
        </p:sp>
      </p:grpSp>
      <p:grpSp>
        <p:nvGrpSpPr>
          <p:cNvPr id="13" name="Group 3"/>
          <p:cNvGrpSpPr/>
          <p:nvPr/>
        </p:nvGrpSpPr>
        <p:grpSpPr>
          <a:xfrm>
            <a:off x="1" y="-46751"/>
            <a:ext cx="6858000" cy="1989851"/>
            <a:chOff x="0" y="0"/>
            <a:chExt cx="1319513" cy="471044"/>
          </a:xfrm>
        </p:grpSpPr>
        <p:sp>
          <p:nvSpPr>
            <p:cNvPr id="16" name="Freeform 4"/>
            <p:cNvSpPr/>
            <p:nvPr/>
          </p:nvSpPr>
          <p:spPr>
            <a:xfrm>
              <a:off x="0" y="0"/>
              <a:ext cx="1319513" cy="471044"/>
            </a:xfrm>
            <a:custGeom>
              <a:avLst/>
              <a:gdLst/>
              <a:ahLst/>
              <a:cxnLst/>
              <a:rect l="l" t="t" r="r" b="b"/>
              <a:pathLst>
                <a:path w="1319513" h="471044">
                  <a:moveTo>
                    <a:pt x="0" y="0"/>
                  </a:moveTo>
                  <a:lnTo>
                    <a:pt x="1319513" y="0"/>
                  </a:lnTo>
                  <a:lnTo>
                    <a:pt x="1319513" y="471044"/>
                  </a:lnTo>
                  <a:lnTo>
                    <a:pt x="0" y="471044"/>
                  </a:lnTo>
                  <a:close/>
                </a:path>
              </a:pathLst>
            </a:custGeom>
            <a:solidFill>
              <a:srgbClr val="006C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5"/>
            <p:cNvSpPr txBox="1"/>
            <p:nvPr/>
          </p:nvSpPr>
          <p:spPr>
            <a:xfrm>
              <a:off x="0" y="-38100"/>
              <a:ext cx="1319513" cy="509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838200" y="518666"/>
            <a:ext cx="541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</a:rPr>
              <a:t>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019300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</a:rPr>
              <a:t>Question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3359149"/>
            <a:ext cx="12344400" cy="59091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14131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2710024" y="6457897"/>
            <a:ext cx="1429437" cy="1429437"/>
          </a:xfrm>
          <a:custGeom>
            <a:avLst/>
            <a:gdLst/>
            <a:ahLst/>
            <a:cxnLst/>
            <a:rect l="l" t="t" r="r" b="b"/>
            <a:pathLst>
              <a:path w="1429437" h="1429437">
                <a:moveTo>
                  <a:pt x="0" y="0"/>
                </a:moveTo>
                <a:lnTo>
                  <a:pt x="1429437" y="0"/>
                </a:lnTo>
                <a:lnTo>
                  <a:pt x="1429437" y="1429437"/>
                </a:lnTo>
                <a:lnTo>
                  <a:pt x="0" y="1429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TextBox 29"/>
          <p:cNvSpPr txBox="1"/>
          <p:nvPr/>
        </p:nvSpPr>
        <p:spPr>
          <a:xfrm>
            <a:off x="1143000" y="1333500"/>
            <a:ext cx="156972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</a:rPr>
              <a:t>Can you provide a ranking of in-store sales performance by each store in the sales territory, or a ranking of online sales performance by state within an online sales territory? </a:t>
            </a:r>
            <a:endParaRPr lang="en-US" sz="3200" dirty="0">
              <a:solidFill>
                <a:srgbClr val="3E67C8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90600" y="699187"/>
            <a:ext cx="213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</a:rPr>
              <a:t>Question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171" y="3390900"/>
            <a:ext cx="12729658" cy="56846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91667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2710024" y="6457897"/>
            <a:ext cx="1429437" cy="1429437"/>
          </a:xfrm>
          <a:custGeom>
            <a:avLst/>
            <a:gdLst/>
            <a:ahLst/>
            <a:cxnLst/>
            <a:rect l="l" t="t" r="r" b="b"/>
            <a:pathLst>
              <a:path w="1429437" h="1429437">
                <a:moveTo>
                  <a:pt x="0" y="0"/>
                </a:moveTo>
                <a:lnTo>
                  <a:pt x="1429437" y="0"/>
                </a:lnTo>
                <a:lnTo>
                  <a:pt x="1429437" y="1429437"/>
                </a:lnTo>
                <a:lnTo>
                  <a:pt x="0" y="14294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3"/>
          <p:cNvGrpSpPr/>
          <p:nvPr/>
        </p:nvGrpSpPr>
        <p:grpSpPr>
          <a:xfrm>
            <a:off x="0" y="-46751"/>
            <a:ext cx="7772399" cy="1989851"/>
            <a:chOff x="0" y="0"/>
            <a:chExt cx="1319513" cy="471044"/>
          </a:xfrm>
        </p:grpSpPr>
        <p:sp>
          <p:nvSpPr>
            <p:cNvPr id="8" name="Freeform 4"/>
            <p:cNvSpPr/>
            <p:nvPr/>
          </p:nvSpPr>
          <p:spPr>
            <a:xfrm>
              <a:off x="0" y="0"/>
              <a:ext cx="1319513" cy="471044"/>
            </a:xfrm>
            <a:custGeom>
              <a:avLst/>
              <a:gdLst/>
              <a:ahLst/>
              <a:cxnLst/>
              <a:rect l="l" t="t" r="r" b="b"/>
              <a:pathLst>
                <a:path w="1319513" h="471044">
                  <a:moveTo>
                    <a:pt x="0" y="0"/>
                  </a:moveTo>
                  <a:lnTo>
                    <a:pt x="1319513" y="0"/>
                  </a:lnTo>
                  <a:lnTo>
                    <a:pt x="1319513" y="471044"/>
                  </a:lnTo>
                  <a:lnTo>
                    <a:pt x="0" y="471044"/>
                  </a:lnTo>
                  <a:close/>
                </a:path>
              </a:pathLst>
            </a:custGeom>
            <a:solidFill>
              <a:srgbClr val="006C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5"/>
            <p:cNvSpPr txBox="1"/>
            <p:nvPr/>
          </p:nvSpPr>
          <p:spPr>
            <a:xfrm>
              <a:off x="0" y="-38100"/>
              <a:ext cx="1319513" cy="5091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85800" y="562570"/>
            <a:ext cx="6781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</a:rPr>
              <a:t>GitHub Repository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2150798"/>
            <a:ext cx="12344400" cy="75594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4560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9360610" y="0"/>
            <a:ext cx="1615585" cy="10287000"/>
            <a:chOff x="0" y="0"/>
            <a:chExt cx="225169" cy="157764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5169" cy="1577648"/>
            </a:xfrm>
            <a:custGeom>
              <a:avLst/>
              <a:gdLst/>
              <a:ahLst/>
              <a:cxnLst/>
              <a:rect l="l" t="t" r="r" b="b"/>
              <a:pathLst>
                <a:path w="225169" h="1577648">
                  <a:moveTo>
                    <a:pt x="0" y="0"/>
                  </a:moveTo>
                  <a:lnTo>
                    <a:pt x="225169" y="0"/>
                  </a:lnTo>
                  <a:lnTo>
                    <a:pt x="225169" y="1577648"/>
                  </a:lnTo>
                  <a:lnTo>
                    <a:pt x="0" y="1577648"/>
                  </a:lnTo>
                  <a:close/>
                </a:path>
              </a:pathLst>
            </a:custGeom>
            <a:solidFill>
              <a:srgbClr val="2254C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25169" cy="16157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9802642" y="4960957"/>
            <a:ext cx="731520" cy="731520"/>
          </a:xfrm>
          <a:custGeom>
            <a:avLst/>
            <a:gdLst/>
            <a:ahLst/>
            <a:cxnLst/>
            <a:rect l="l" t="t" r="r" b="b"/>
            <a:pathLst>
              <a:path w="632041" h="632041">
                <a:moveTo>
                  <a:pt x="0" y="0"/>
                </a:moveTo>
                <a:lnTo>
                  <a:pt x="632041" y="0"/>
                </a:lnTo>
                <a:lnTo>
                  <a:pt x="632041" y="632041"/>
                </a:lnTo>
                <a:lnTo>
                  <a:pt x="0" y="6320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823511" y="5015099"/>
            <a:ext cx="4052594" cy="136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24"/>
              </a:lnSpc>
            </a:pPr>
            <a:r>
              <a:rPr lang="en-US" sz="11038" b="1">
                <a:solidFill>
                  <a:srgbClr val="3E67C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You.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23511" y="3750137"/>
            <a:ext cx="6173301" cy="1364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24"/>
              </a:lnSpc>
            </a:pPr>
            <a:r>
              <a:rPr lang="en-US" sz="11038" b="1">
                <a:solidFill>
                  <a:srgbClr val="3E67C8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551051" y="3543300"/>
            <a:ext cx="2885374" cy="434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800" b="1" dirty="0">
                <a:solidFill>
                  <a:srgbClr val="006CC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Dania Kabakibi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551050" y="5139035"/>
            <a:ext cx="5708625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  <a:spcBef>
                <a:spcPct val="0"/>
              </a:spcBef>
            </a:pPr>
            <a:r>
              <a:rPr lang="en-US" sz="2570" b="1" dirty="0">
                <a:solidFill>
                  <a:srgbClr val="006CC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dkabakibi@my.yearupunited.org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6922" y="3338657"/>
            <a:ext cx="822960" cy="82296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152" y="6477000"/>
            <a:ext cx="952500" cy="952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18599" y="6541403"/>
            <a:ext cx="6325951" cy="88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70" b="1" dirty="0">
                <a:solidFill>
                  <a:srgbClr val="006CCD"/>
                </a:solidFill>
                <a:latin typeface="Montserrat Bold"/>
                <a:ea typeface="Montserrat Bold"/>
                <a:cs typeface="Montserrat Bold"/>
                <a:hlinkClick r:id="rId6"/>
              </a:rPr>
              <a:t>https://github.com/dania-kabakibi</a:t>
            </a:r>
          </a:p>
          <a:p>
            <a:r>
              <a:rPr lang="en-US" sz="2570" b="1" dirty="0">
                <a:solidFill>
                  <a:srgbClr val="006CCD"/>
                </a:solidFill>
                <a:latin typeface="Montserrat Bold"/>
                <a:ea typeface="Montserrat Bold"/>
                <a:cs typeface="Montserrat Bold"/>
                <a:hlinkClick r:id="rId6"/>
              </a:rPr>
              <a:t>/Capstone_1.git</a:t>
            </a:r>
            <a:endParaRPr lang="en-US" sz="2570" b="1" dirty="0">
              <a:solidFill>
                <a:srgbClr val="006CCD"/>
              </a:solidFill>
              <a:latin typeface="Montserrat Bold"/>
              <a:ea typeface="Montserrat Bold"/>
              <a:cs typeface="Montserrat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626</Words>
  <Application>Microsoft Office PowerPoint</Application>
  <PresentationFormat>Custom</PresentationFormat>
  <Paragraphs>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Montserrat Medium</vt:lpstr>
      <vt:lpstr>Montserrat Semi-Bold</vt:lpstr>
      <vt:lpstr>Calibri</vt:lpstr>
      <vt:lpstr>Montserrat Bold</vt:lpstr>
      <vt:lpstr>Arial</vt:lpstr>
      <vt:lpstr>Montserrat Ultra-Bold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Dania Kabakibi</dc:creator>
  <cp:lastModifiedBy>dania kabakibi</cp:lastModifiedBy>
  <cp:revision>33</cp:revision>
  <dcterms:created xsi:type="dcterms:W3CDTF">2006-08-16T00:00:00Z</dcterms:created>
  <dcterms:modified xsi:type="dcterms:W3CDTF">2026-05-01T00:12:19Z</dcterms:modified>
  <dc:identifier>DAHIRgswCeg</dc:identifier>
</cp:coreProperties>
</file>